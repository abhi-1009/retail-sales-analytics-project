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76" r:id="rId10"/>
    <p:sldId id="263" r:id="rId11"/>
    <p:sldId id="267" r:id="rId12"/>
    <p:sldId id="270" r:id="rId13"/>
    <p:sldId id="271" r:id="rId14"/>
    <p:sldId id="272" r:id="rId15"/>
    <p:sldId id="277" r:id="rId16"/>
    <p:sldId id="280" r:id="rId17"/>
    <p:sldId id="281" r:id="rId18"/>
    <p:sldId id="278" r:id="rId19"/>
    <p:sldId id="265" r:id="rId20"/>
    <p:sldId id="266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14" autoAdjust="0"/>
  </p:normalViewPr>
  <p:slideViewPr>
    <p:cSldViewPr snapToGrid="0" snapToObjects="1">
      <p:cViewPr varScale="1">
        <p:scale>
          <a:sx n="61" d="100"/>
          <a:sy n="61" d="100"/>
        </p:scale>
        <p:origin x="16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42524-DFAD-4425-9668-DE3C2FA22734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9AB33-38C1-4664-96E4-9E9D012A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34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9AB33-38C1-4664-96E4-9E9D012A3EC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996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Data Analysis and Reporting for a Retail 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Submitted by: </a:t>
            </a:r>
            <a:r>
              <a:rPr lang="en-US" dirty="0">
                <a:solidFill>
                  <a:schemeClr val="tx1"/>
                </a:solidFill>
              </a:rPr>
              <a:t>ABHIJIT SINHA</a:t>
            </a:r>
          </a:p>
          <a:p>
            <a:r>
              <a:rPr lang="en-US" dirty="0">
                <a:solidFill>
                  <a:schemeClr val="tx2"/>
                </a:solidFill>
              </a:rPr>
              <a:t>Email: </a:t>
            </a:r>
            <a:r>
              <a:rPr lang="en-US" dirty="0">
                <a:solidFill>
                  <a:schemeClr val="tx1"/>
                </a:solidFill>
              </a:rPr>
              <a:t>sinhaabhijit12@yahoo.com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The main objective of this project is to analyze sales performance, identify high-value customers, study customer response patterns, and provide business recommendations using data analytics tools like </a:t>
            </a:r>
          </a:p>
          <a:p>
            <a:pPr marL="0" indent="0" algn="ctr">
              <a:buNone/>
            </a:pPr>
            <a:r>
              <a:rPr lang="en-US" dirty="0"/>
              <a:t>Python, SQL, Excel, EDA.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 Stack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1755"/>
            <a:ext cx="8229600" cy="388440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Languages: Python, SQL.</a:t>
            </a:r>
            <a:endParaRPr lang="en-IN" dirty="0"/>
          </a:p>
          <a:p>
            <a:pPr lvl="0"/>
            <a:r>
              <a:rPr lang="en-US" dirty="0"/>
              <a:t>Libraries: Pandas, NumPy, Matplotlib, Seaborn, </a:t>
            </a:r>
            <a:r>
              <a:rPr lang="en-IN" dirty="0"/>
              <a:t>SciPy.</a:t>
            </a:r>
          </a:p>
          <a:p>
            <a:pPr lvl="0"/>
            <a:r>
              <a:rPr lang="en-US" dirty="0"/>
              <a:t>Database: SQL(MySQL).</a:t>
            </a:r>
            <a:endParaRPr lang="en-IN" dirty="0"/>
          </a:p>
          <a:p>
            <a:r>
              <a:rPr lang="en-US" dirty="0"/>
              <a:t>Visualization: </a:t>
            </a:r>
            <a:r>
              <a:rPr lang="en-IN" dirty="0"/>
              <a:t>Visual Studio Code.</a:t>
            </a:r>
          </a:p>
          <a:p>
            <a:pPr marL="0" lvl="0" indent="0">
              <a:buNone/>
            </a:pPr>
            <a:endParaRPr lang="en-IN" dirty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Source: Provided dataset (CSV) from </a:t>
            </a:r>
            <a:r>
              <a:rPr lang="en-IN" dirty="0"/>
              <a:t>Kaggle</a:t>
            </a:r>
          </a:p>
          <a:p>
            <a:r>
              <a:rPr lang="en-US" dirty="0"/>
              <a:t>Two datasets: </a:t>
            </a:r>
            <a:r>
              <a:rPr lang="en-US" b="1" dirty="0">
                <a:solidFill>
                  <a:schemeClr val="accent1"/>
                </a:solidFill>
              </a:rPr>
              <a:t>Transaction </a:t>
            </a:r>
            <a:r>
              <a:rPr lang="en-US" dirty="0"/>
              <a:t>dataset containing customer purchase records and </a:t>
            </a:r>
            <a:r>
              <a:rPr lang="en-US" b="1" dirty="0">
                <a:solidFill>
                  <a:schemeClr val="accent1"/>
                </a:solidFill>
              </a:rPr>
              <a:t>Response</a:t>
            </a:r>
            <a:r>
              <a:rPr lang="en-US" dirty="0"/>
              <a:t> dataset containing customer marketing response information.</a:t>
            </a:r>
          </a:p>
          <a:p>
            <a:r>
              <a:rPr dirty="0"/>
              <a:t>The dataset contains retail transaction data including:</a:t>
            </a:r>
          </a:p>
          <a:p>
            <a:r>
              <a:rPr dirty="0"/>
              <a:t>Customer ID</a:t>
            </a:r>
          </a:p>
          <a:p>
            <a:r>
              <a:rPr dirty="0"/>
              <a:t>Transaction Date</a:t>
            </a:r>
          </a:p>
          <a:p>
            <a:r>
              <a:rPr dirty="0"/>
              <a:t>Transaction Amount</a:t>
            </a:r>
          </a:p>
          <a:p>
            <a:r>
              <a:rPr dirty="0"/>
              <a:t>Customer Response</a:t>
            </a:r>
            <a:endParaRPr lang="en-US" dirty="0"/>
          </a:p>
          <a:p>
            <a:r>
              <a:rPr lang="en-US" dirty="0"/>
              <a:t>Transaction Data and Customer Response Data merged using Customer ID.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121F-58BE-1F0F-E1B7-D8A5E4BB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2492"/>
          </a:xfrm>
        </p:spPr>
        <p:txBody>
          <a:bodyPr>
            <a:noAutofit/>
          </a:bodyPr>
          <a:lstStyle/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4ADC4E-FC95-972E-47FC-398B445B5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1890" y="945933"/>
            <a:ext cx="8797158" cy="2081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7521EB-5B9F-12E2-7EAE-29C1F4BB4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91" y="2842053"/>
            <a:ext cx="8797158" cy="1934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6CDFC6-3A3D-0C18-22D3-09B2FB372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91" y="4650828"/>
            <a:ext cx="8797158" cy="208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6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IN" sz="49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Workflow and Implementation Steps</a:t>
            </a:r>
            <a:br>
              <a:rPr lang="en-US" sz="4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dirty="0"/>
            </a:br>
            <a:r>
              <a:rPr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 1: Data Collection and Database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697163"/>
          </a:xfrm>
        </p:spPr>
        <p:txBody>
          <a:bodyPr/>
          <a:lstStyle/>
          <a:p>
            <a:r>
              <a:rPr dirty="0"/>
              <a:t>Downloaded dataset from Kaggle</a:t>
            </a:r>
          </a:p>
          <a:p>
            <a:r>
              <a:rPr dirty="0"/>
              <a:t>Stored data in CSV format</a:t>
            </a:r>
          </a:p>
          <a:p>
            <a:r>
              <a:rPr dirty="0"/>
              <a:t>Created database in MySQL</a:t>
            </a:r>
          </a:p>
          <a:p>
            <a:r>
              <a:rPr dirty="0"/>
              <a:t>Created tables and loaded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186" y="599090"/>
            <a:ext cx="8797158" cy="1277006"/>
          </a:xfrm>
        </p:spPr>
        <p:txBody>
          <a:bodyPr>
            <a:normAutofit fontScale="90000"/>
          </a:bodyPr>
          <a:lstStyle/>
          <a:p>
            <a:r>
              <a:rPr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 2: Data Cleaning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4828"/>
            <a:ext cx="8229600" cy="3761335"/>
          </a:xfrm>
        </p:spPr>
        <p:txBody>
          <a:bodyPr>
            <a:normAutofit/>
          </a:bodyPr>
          <a:lstStyle/>
          <a:p>
            <a:r>
              <a:rPr dirty="0"/>
              <a:t>Merged transaction and response datasets</a:t>
            </a:r>
          </a:p>
          <a:p>
            <a:r>
              <a:rPr dirty="0"/>
              <a:t>Removed missing values</a:t>
            </a:r>
          </a:p>
          <a:p>
            <a:r>
              <a:rPr dirty="0"/>
              <a:t>Converted data types</a:t>
            </a:r>
          </a:p>
          <a:p>
            <a:r>
              <a:rPr lang="en-US" dirty="0"/>
              <a:t>Created derived columns like year, month, and quarter</a:t>
            </a:r>
          </a:p>
          <a:p>
            <a:r>
              <a:rPr lang="en-IN" dirty="0"/>
              <a:t>Checked and removed outliers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 3: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Per</a:t>
            </a:r>
            <a:r>
              <a:rPr dirty="0"/>
              <a:t>formed exploratory data analysis</a:t>
            </a:r>
          </a:p>
          <a:p>
            <a:r>
              <a:rPr dirty="0"/>
              <a:t>Identified customer spending patterns</a:t>
            </a:r>
          </a:p>
          <a:p>
            <a:r>
              <a:rPr dirty="0"/>
              <a:t>Analyzed customer response behavior</a:t>
            </a:r>
          </a:p>
          <a:p>
            <a:r>
              <a:rPr dirty="0"/>
              <a:t>Studied transaction trends</a:t>
            </a:r>
            <a:endParaRPr lang="en-US" dirty="0"/>
          </a:p>
          <a:p>
            <a:r>
              <a:rPr lang="en-US" dirty="0"/>
              <a:t>Identified repeat customers and purchasing frequency patterns.</a:t>
            </a:r>
          </a:p>
          <a:p>
            <a:r>
              <a:rPr lang="en-US" dirty="0"/>
              <a:t>Segmented customers based on Recency, Frequency, and Monetary value.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5A7A6-A333-982F-0EF4-44A9C81BA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3421"/>
            <a:ext cx="9017875" cy="668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5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Findings</a:t>
            </a:r>
            <a:r>
              <a:rPr lang="en-US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Business Insights</a:t>
            </a:r>
            <a:endParaRPr b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Identified high value customers</a:t>
            </a:r>
            <a:r>
              <a:rPr lang="en-US" dirty="0"/>
              <a:t>.</a:t>
            </a:r>
            <a:endParaRPr dirty="0"/>
          </a:p>
          <a:p>
            <a:r>
              <a:rPr dirty="0"/>
              <a:t>Observed response behavior patterns</a:t>
            </a:r>
            <a:r>
              <a:rPr lang="en-US" dirty="0"/>
              <a:t>.</a:t>
            </a:r>
            <a:endParaRPr dirty="0"/>
          </a:p>
          <a:p>
            <a:r>
              <a:rPr dirty="0"/>
              <a:t>Detected outliers in transaction amounts</a:t>
            </a:r>
            <a:r>
              <a:rPr lang="en-US" dirty="0"/>
              <a:t>.</a:t>
            </a:r>
            <a:endParaRPr dirty="0"/>
          </a:p>
          <a:p>
            <a:r>
              <a:rPr dirty="0"/>
              <a:t>Found transaction trend insights</a:t>
            </a:r>
            <a:r>
              <a:rPr lang="en-US" dirty="0"/>
              <a:t>.</a:t>
            </a:r>
          </a:p>
          <a:p>
            <a:r>
              <a:rPr lang="en-US" dirty="0"/>
              <a:t>High-value customers contribute major revenue. </a:t>
            </a:r>
          </a:p>
          <a:p>
            <a:r>
              <a:rPr lang="en-US" dirty="0"/>
              <a:t>Focus on retention programs, targeted marketing, and seasonal inventory planning.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EC18-4270-3217-B585-13685862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5507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US" sz="49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 CHARTS</a:t>
            </a:r>
            <a:br>
              <a:rPr lang="en-IN" dirty="0"/>
            </a:br>
            <a:r>
              <a:rPr lang="en-IN" b="1" u="sng" dirty="0">
                <a:solidFill>
                  <a:schemeClr val="accent1"/>
                </a:solidFill>
              </a:rPr>
              <a:t>Monthly Sales Trend</a:t>
            </a: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b="1" u="sng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2"/>
                </a:solidFill>
              </a:rPr>
              <a:t>Identifies peak months</a:t>
            </a:r>
            <a:endParaRPr lang="en-IN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1F061-671C-DD93-9008-8837A487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9972"/>
            <a:ext cx="9144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50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F6EA-5898-A6C9-78FD-090D43E4C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5" y="274639"/>
            <a:ext cx="8387255" cy="57669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b="1" u="sng" dirty="0">
                <a:solidFill>
                  <a:schemeClr val="accent1"/>
                </a:solidFill>
              </a:rPr>
              <a:t>Customer Response Analysis</a:t>
            </a: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US" sz="3100" b="1" dirty="0">
                <a:solidFill>
                  <a:schemeClr val="accent2"/>
                </a:solidFill>
              </a:rPr>
              <a:t>Marketing campaigns should be refined to improve customer participation and conversion rates.</a:t>
            </a:r>
            <a:br>
              <a:rPr lang="en-US" sz="3100" b="1" dirty="0">
                <a:solidFill>
                  <a:schemeClr val="accent2"/>
                </a:solidFill>
              </a:rPr>
            </a:b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03085-852B-3A5B-000C-62D5129DA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5" y="1292773"/>
            <a:ext cx="8765629" cy="444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2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DF06-6680-9123-1326-F396C6ED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b="1" u="sng" dirty="0">
                <a:solidFill>
                  <a:schemeClr val="accent1"/>
                </a:solidFill>
              </a:rPr>
              <a:t>Top Customers Analysis</a:t>
            </a:r>
            <a:br>
              <a:rPr lang="en-IN" b="1" u="sng" dirty="0">
                <a:solidFill>
                  <a:schemeClr val="accent1"/>
                </a:solidFill>
              </a:rPr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US" sz="3100" b="1" dirty="0">
                <a:solidFill>
                  <a:schemeClr val="accent2"/>
                </a:solidFill>
              </a:rPr>
              <a:t>Retention strategies, loyalty programs, and personalized offers should be targeted toward high-value customers to maximize revenue growth.</a:t>
            </a:r>
            <a:endParaRPr lang="en-IN" sz="3100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4E6A1-73AD-DFEE-8233-5723E1C8E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4" y="1417638"/>
            <a:ext cx="8860221" cy="359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75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4769-300A-271F-8FB6-177C56A6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br>
              <a:rPr lang="en-IN" dirty="0"/>
            </a:br>
            <a:br>
              <a:rPr lang="en-IN" dirty="0"/>
            </a:br>
            <a:r>
              <a:rPr lang="en-IN" sz="49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 Segmentation (RFM)</a:t>
            </a:r>
            <a:br>
              <a:rPr lang="en-IN" sz="49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u="sng" dirty="0">
                <a:solidFill>
                  <a:schemeClr val="accent1"/>
                </a:solidFill>
              </a:rPr>
              <a:t>Customer Recency vs Frequency </a:t>
            </a:r>
            <a:br>
              <a:rPr lang="en-US" b="1" u="sng" dirty="0">
                <a:solidFill>
                  <a:schemeClr val="accent1"/>
                </a:solidFill>
              </a:rPr>
            </a:br>
            <a:r>
              <a:rPr lang="en-US" b="1" u="sng" dirty="0">
                <a:solidFill>
                  <a:schemeClr val="accent1"/>
                </a:solidFill>
              </a:rPr>
              <a:t>Scatter Plot</a:t>
            </a:r>
            <a:br>
              <a:rPr lang="en-US" b="1" u="sng" dirty="0">
                <a:solidFill>
                  <a:schemeClr val="accent1"/>
                </a:solidFill>
              </a:rPr>
            </a:br>
            <a:endParaRPr lang="en-IN" b="1" u="sng" dirty="0">
              <a:solidFill>
                <a:schemeClr val="accent1"/>
              </a:solidFill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B2DFCA1-04A7-D800-1583-A3CC83D4D42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445877" y="2310991"/>
            <a:ext cx="4508938" cy="3932153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B412CD07-C5C7-40D1-37AA-B0C124D1CA3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5572" y="2310991"/>
            <a:ext cx="3405352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scatter shows that customer engagement is not evenly distributed.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b="1" dirty="0">
              <a:solidFill>
                <a:schemeClr val="accent2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Opportunity for customer segmentation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Need for retention strategy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3780834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3415-0B09-017E-338D-168191BA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accent1"/>
                </a:solidFill>
              </a:rPr>
              <a:t>Customer Frequency vs Monetary Value Scatter Plot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60DBE-811D-630F-ECF1-453AE3F900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scatter plot shows a clear upward trend</a:t>
            </a:r>
          </a:p>
          <a:p>
            <a:pPr marL="0" indent="0">
              <a:buNone/>
            </a:pPr>
            <a:endParaRPr lang="en-US" sz="2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Retaining these customers is critical for business stability.</a:t>
            </a:r>
          </a:p>
          <a:p>
            <a:pPr marL="0" indent="0">
              <a:buNone/>
            </a:pPr>
            <a:endParaRPr lang="en-US" sz="2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average transaction value here can lift total revenue.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D61E7D-3194-4480-59E5-A69B91D0520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45025" y="2174875"/>
            <a:ext cx="4246727" cy="368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1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21CFE50-8AFE-0FDC-984C-AC52AB5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1890"/>
            <a:ext cx="8229600" cy="52026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DASHBOARD SCREENSHOT</a:t>
            </a:r>
            <a:endParaRPr lang="en-IN" b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9EECF46-14E3-90C7-49FC-17E6CF9BD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890" y="1008992"/>
            <a:ext cx="8812924" cy="570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87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ECDD9E-5271-3E6F-719E-B0841AAD3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04" y="110359"/>
            <a:ext cx="9068596" cy="662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8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F2F9E3-8D43-29DD-BA57-2719D1F1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br>
              <a:rPr lang="en-IN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Business Insights </a:t>
            </a:r>
            <a:br>
              <a:rPr lang="en-IN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br>
              <a:rPr lang="en-IN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Recommendations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0AE306-F08C-39A8-7EE4-447B7DB78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0717" y="1813034"/>
            <a:ext cx="4275083" cy="491884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 algn="ctr">
              <a:buNone/>
            </a:pPr>
            <a:r>
              <a:rPr lang="en-IN" sz="3800" b="1" u="sng" dirty="0">
                <a:solidFill>
                  <a:schemeClr val="accent2"/>
                </a:solidFill>
              </a:rPr>
              <a:t>Key Business Insights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>
                <a:solidFill>
                  <a:schemeClr val="accent4"/>
                </a:solidFill>
              </a:rPr>
              <a:t>The business shows stable long-term growth with mild seasonal variation.</a:t>
            </a:r>
          </a:p>
          <a:p>
            <a:r>
              <a:rPr lang="en-IN" b="1" dirty="0">
                <a:solidFill>
                  <a:schemeClr val="accent4"/>
                </a:solidFill>
              </a:rPr>
              <a:t>Sales are relatively stable throughout the year, reducing seasonal risk.</a:t>
            </a:r>
          </a:p>
          <a:p>
            <a:r>
              <a:rPr lang="en-IN" b="1" dirty="0">
                <a:solidFill>
                  <a:schemeClr val="accent4"/>
                </a:solidFill>
              </a:rPr>
              <a:t>Customer retention plays a bigger role than new acquisition.</a:t>
            </a:r>
          </a:p>
          <a:p>
            <a:r>
              <a:rPr lang="en-IN" b="1" dirty="0">
                <a:solidFill>
                  <a:schemeClr val="accent4"/>
                </a:solidFill>
              </a:rPr>
              <a:t>Current campaign strategy has low conversion efficiency.</a:t>
            </a:r>
          </a:p>
          <a:p>
            <a:r>
              <a:rPr lang="en-IN" b="1" dirty="0">
                <a:solidFill>
                  <a:schemeClr val="accent4"/>
                </a:solidFill>
              </a:rPr>
              <a:t>There is major scope for targeted marketing.</a:t>
            </a:r>
          </a:p>
          <a:p>
            <a:r>
              <a:rPr lang="en-IN" b="1" dirty="0">
                <a:solidFill>
                  <a:schemeClr val="accent4"/>
                </a:solidFill>
              </a:rPr>
              <a:t>Different customer segments require different marketing strategies.</a:t>
            </a:r>
          </a:p>
          <a:p>
            <a:r>
              <a:rPr lang="en-IN" b="1" dirty="0">
                <a:solidFill>
                  <a:schemeClr val="accent4"/>
                </a:solidFill>
              </a:rPr>
              <a:t>Revenue is partially concentrated among high-value customers.</a:t>
            </a:r>
          </a:p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4F60D9-C02D-64BE-8FC4-CF89D279F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813034"/>
            <a:ext cx="4275083" cy="491884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3800" b="1" u="sng" dirty="0">
                <a:solidFill>
                  <a:schemeClr val="accent2"/>
                </a:solidFill>
              </a:rPr>
              <a:t>Business Recommendations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>
                <a:solidFill>
                  <a:schemeClr val="accent4"/>
                </a:solidFill>
              </a:rPr>
              <a:t>Focus on Customer Retention Programs (Top Priority)</a:t>
            </a:r>
          </a:p>
          <a:p>
            <a:r>
              <a:rPr lang="en-IN" b="1" dirty="0">
                <a:solidFill>
                  <a:schemeClr val="accent4"/>
                </a:solidFill>
              </a:rPr>
              <a:t>Create VIP Customer Program</a:t>
            </a:r>
          </a:p>
          <a:p>
            <a:r>
              <a:rPr lang="en-IN" b="1" dirty="0">
                <a:solidFill>
                  <a:schemeClr val="accent4"/>
                </a:solidFill>
              </a:rPr>
              <a:t>Improve Campaign Targeting</a:t>
            </a:r>
          </a:p>
          <a:p>
            <a:r>
              <a:rPr lang="en-IN" b="1" dirty="0">
                <a:solidFill>
                  <a:schemeClr val="accent4"/>
                </a:solidFill>
              </a:rPr>
              <a:t>Upselling &amp; Cross-Selling Strategy</a:t>
            </a:r>
          </a:p>
          <a:p>
            <a:r>
              <a:rPr lang="en-IN" b="1" dirty="0">
                <a:solidFill>
                  <a:schemeClr val="accent4"/>
                </a:solidFill>
              </a:rPr>
              <a:t>Reactivate Dormant Customers</a:t>
            </a:r>
          </a:p>
          <a:p>
            <a:r>
              <a:rPr lang="en-IN" b="1" dirty="0">
                <a:solidFill>
                  <a:schemeClr val="accent4"/>
                </a:solidFill>
              </a:rPr>
              <a:t>Data-Driven Marketing Strategy</a:t>
            </a:r>
          </a:p>
          <a:p>
            <a:pPr lvl="0"/>
            <a:r>
              <a:rPr lang="en-IN" b="1" dirty="0">
                <a:solidFill>
                  <a:schemeClr val="accent4"/>
                </a:solidFill>
              </a:rPr>
              <a:t>Implement customer segmentation dashboard.</a:t>
            </a:r>
            <a:endParaRPr lang="en-US" b="1" dirty="0">
              <a:solidFill>
                <a:schemeClr val="accent4"/>
              </a:solidFill>
            </a:endParaRPr>
          </a:p>
          <a:p>
            <a:r>
              <a:rPr lang="en-US" b="1" dirty="0">
                <a:solidFill>
                  <a:schemeClr val="accent4"/>
                </a:solidFill>
              </a:rPr>
              <a:t>Targeted marketing</a:t>
            </a:r>
          </a:p>
          <a:p>
            <a:r>
              <a:rPr lang="en-US" b="1" dirty="0">
                <a:solidFill>
                  <a:schemeClr val="accent4"/>
                </a:solidFill>
              </a:rPr>
              <a:t>Seasonal inventory planning.</a:t>
            </a:r>
          </a:p>
          <a:p>
            <a:r>
              <a:rPr lang="en-US" b="1" dirty="0">
                <a:solidFill>
                  <a:schemeClr val="accent4"/>
                </a:solidFill>
              </a:rPr>
              <a:t>Focus on Peak Sales Months</a:t>
            </a:r>
          </a:p>
          <a:p>
            <a:r>
              <a:rPr lang="en-US" b="1" dirty="0">
                <a:solidFill>
                  <a:schemeClr val="accent4"/>
                </a:solidFill>
              </a:rPr>
              <a:t>Reduce Revenue Dependency on Few Customers</a:t>
            </a:r>
          </a:p>
          <a:p>
            <a:endParaRPr lang="en-US" b="1" dirty="0"/>
          </a:p>
          <a:p>
            <a:endParaRPr lang="en-US" b="1" dirty="0">
              <a:solidFill>
                <a:schemeClr val="accent4"/>
              </a:solidFill>
            </a:endParaRP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439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This project successfully analyzed retail transaction data and provided valuable insights that can help businesses improve customer engagement and sales performance.</a:t>
            </a:r>
            <a:endParaRPr lang="en-US" dirty="0"/>
          </a:p>
          <a:p>
            <a:r>
              <a:rPr lang="en-US" dirty="0"/>
              <a:t>Data analytics helps improve customer engagement and business profitability.</a:t>
            </a:r>
          </a:p>
          <a:p>
            <a:r>
              <a:rPr lang="en-US" dirty="0"/>
              <a:t>This project demonstrates how data analytics helps businesses make data-driven decisions and improve customer engagement and revenue growth.</a:t>
            </a:r>
          </a:p>
          <a:p>
            <a:r>
              <a:rPr lang="en-IN" dirty="0"/>
              <a:t>Overall, data-driven decision-making can significantly enhance revenue, customer retention, and business growth.</a:t>
            </a:r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Customer segmentation using machine learning</a:t>
            </a:r>
          </a:p>
          <a:p>
            <a:r>
              <a:rPr dirty="0"/>
              <a:t>Predictive sales analysis</a:t>
            </a:r>
          </a:p>
          <a:p>
            <a:r>
              <a:rPr dirty="0"/>
              <a:t>Automated dashboard reporting</a:t>
            </a:r>
          </a:p>
          <a:p>
            <a:r>
              <a:rPr dirty="0"/>
              <a:t>Marketing strategy optimization</a:t>
            </a:r>
            <a:endParaRPr lang="en-US" dirty="0"/>
          </a:p>
          <a:p>
            <a:r>
              <a:rPr lang="en-US" dirty="0"/>
              <a:t>Sales Forecasting, Churn Prediction, and AI Recommendation Systems.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5B7B624-9ED1-7536-D321-14B1530EB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69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706</Words>
  <Application>Microsoft Office PowerPoint</Application>
  <PresentationFormat>On-screen Show (4:3)</PresentationFormat>
  <Paragraphs>110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Sales Data Analysis and Reporting for a Retail Chain</vt:lpstr>
      <vt:lpstr>Abstract</vt:lpstr>
      <vt:lpstr>Technology Stack</vt:lpstr>
      <vt:lpstr>Dataset Description</vt:lpstr>
      <vt:lpstr>Dataset</vt:lpstr>
      <vt:lpstr>   Project Workflow and Implementation Steps  Phase 1: Data Collection and Database Setup</vt:lpstr>
      <vt:lpstr>Phase 2: Data Cleaning and Preparation</vt:lpstr>
      <vt:lpstr>Phase 3: Data Analysis</vt:lpstr>
      <vt:lpstr>PowerPoint Presentation</vt:lpstr>
      <vt:lpstr>Key Findings Key Business Insights</vt:lpstr>
      <vt:lpstr>         EDA CHARTS Monthly Sales Trend        Identifies peak months</vt:lpstr>
      <vt:lpstr>            Customer Response Analysis         Marketing campaigns should be refined to improve customer participation and conversion rates.  </vt:lpstr>
      <vt:lpstr>         Top Customers Analysis        Retention strategies, loyalty programs, and personalized offers should be targeted toward high-value customers to maximize revenue growth.</vt:lpstr>
      <vt:lpstr>  Customer Segmentation (RFM) Customer Recency vs Frequency  Scatter Plot </vt:lpstr>
      <vt:lpstr>Customer Frequency vs Monetary Value Scatter Plot</vt:lpstr>
      <vt:lpstr>EXCEL DASHBOARD SCREENSHOT</vt:lpstr>
      <vt:lpstr>PowerPoint Presentation</vt:lpstr>
      <vt:lpstr> Key Business Insights  and  Business Recommendations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1qh5y</cp:lastModifiedBy>
  <cp:revision>3</cp:revision>
  <dcterms:created xsi:type="dcterms:W3CDTF">2013-01-27T09:14:16Z</dcterms:created>
  <dcterms:modified xsi:type="dcterms:W3CDTF">2026-02-20T14:23:08Z</dcterms:modified>
  <cp:category/>
</cp:coreProperties>
</file>